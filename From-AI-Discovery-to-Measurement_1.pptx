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-1-1.jpg" ContentType="image/jpg"/>
  <Override PartName="/ppt/media/image-1-2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2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7-2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E-commerce Share of Sales (%)</c:v>
                </c:pt>
              </c:strCache>
            </c:strRef>
          </c:tx>
          <c:spPr>
            <a:solidFill>
              <a:srgbClr val="FFFFFF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28.9</c:v>
                </c:pt>
                <c:pt idx="1">
                  <c:v>28.0</c:v>
                </c:pt>
                <c:pt idx="2">
                  <c:v>27.0</c:v>
                </c:pt>
                <c:pt idx="3">
                  <c:v>28.2</c:v>
                </c:pt>
                <c:pt idx="4">
                  <c:v>30.2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24"/>
        </c:scaling>
        <c:delete val="0"/>
        <c:axPos val="l"/>
        <c:majorGridlines>
          <c:spPr>
            <a:ln w="12700" cap="flat">
              <a:solidFill>
                <a:srgbClr val="162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060B22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60B22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LFL Sales Growth</c:v>
                </c:pt>
              </c:strCache>
            </c:strRef>
          </c:tx>
          <c:spPr>
            <a:solidFill>
              <a:srgbClr val="FFFFFF"/>
            </a:solidFill>
            <a:ln w="317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16.1</c:v>
                </c:pt>
                <c:pt idx="1">
                  <c:v>10.9</c:v>
                </c:pt>
                <c:pt idx="2">
                  <c:v>11</c:v>
                </c:pt>
                <c:pt idx="3">
                  <c:v>5.1</c:v>
                </c:pt>
                <c:pt idx="4">
                  <c:v>4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162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"/>
      </c:valAx>
      <c:spPr>
        <a:solidFill>
          <a:srgbClr val="060B22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60B22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FFFFFF"/>
            </a:solidFill>
            <a:ln w="317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19.1</c:v>
                </c:pt>
                <c:pt idx="1">
                  <c:v>19.5</c:v>
                </c:pt>
                <c:pt idx="2">
                  <c:v>19.8</c:v>
                </c:pt>
                <c:pt idx="3">
                  <c:v>20</c:v>
                </c:pt>
                <c:pt idx="4">
                  <c:v>20.2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"/>
          <c:min val="18"/>
        </c:scaling>
        <c:delete val="0"/>
        <c:axPos val="l"/>
        <c:majorGridlines>
          <c:spPr>
            <a:ln w="12700" cap="flat">
              <a:solidFill>
                <a:srgbClr val="162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060B22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60B22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pic>
        <p:nvPicPr>
          <p:cNvPr id="4" name="Image 1" descr="bottl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49440" y="0"/>
            <a:ext cx="5239512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0" y="0"/>
            <a:ext cx="822960" cy="6858000"/>
          </a:xfrm>
          <a:prstGeom prst="rect">
            <a:avLst/>
          </a:prstGeom>
          <a:solidFill>
            <a:srgbClr val="060B22">
              <a:alpha val="70000"/>
            </a:srgbClr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4864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4688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 DISCOVERY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MEASUREMENT</a:t>
            </a:r>
            <a:endParaRPr lang="en-US" sz="4000" dirty="0"/>
          </a:p>
        </p:txBody>
      </p:sp>
      <p:sp>
        <p:nvSpPr>
          <p:cNvPr id="8" name="Shape 4"/>
          <p:cNvSpPr/>
          <p:nvPr/>
        </p:nvSpPr>
        <p:spPr>
          <a:xfrm>
            <a:off x="566928" y="4160520"/>
            <a:ext cx="20116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43434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spc="50" kern="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L'Oréal could extend its existing measurement capabilities into conversational AI discovery — without needing to own the AI touchpoint.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400093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400093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· DIGITAL CHANNEL PERFORMANCE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SHARE OF SALES DIDN'T ALWAYS RISE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share fell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pp from 2021–2023</a:t>
            </a:r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recovered to 28.2% in 2024 and reached 30.2% in 2025.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10312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452360" y="2286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 did not mean e-commerce sales were falling — total L'Oréal sales were growing faster in 2022 and 2023.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452360" y="3429000"/>
            <a:ext cx="4206240" cy="777240"/>
          </a:xfrm>
          <a:prstGeom prst="roundRect">
            <a:avLst>
              <a:gd name="adj" fmla="val 588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80960" y="35478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€13.3bn in e-commerce sales — 30.2% of Group sales.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4343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L'Oréal Annual Reports, 2021–2024; 2025 Universal Registration Document.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400093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400093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· DIGITAL CHANNEL PERFORMANCE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SLOWED WHILE MARGIN KEPT RISING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LFL sales growth fell from 16.1% in 2021 to 4.0% in 2025</a:t>
            </a:r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while operating margin increased from 19.1% to 20.2%.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LFL SALES GROWTH (%)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286000"/>
          <a:ext cx="6126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(%)</a:t>
            </a:r>
            <a:endParaRPr lang="en-US" sz="10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57200" y="4480560"/>
          <a:ext cx="612648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858000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data therefore shows slowing top-line growth alongside continued margin expansion.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85800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L'Oréal Annual Reports, 2021–2025.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" y="6144768"/>
            <a:ext cx="1124712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metrics moved in opposite directions — this chart does not establish a causal relationship between them.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 · THE AI MEASUREMENT CHALLENGE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144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MEASURED CHANNEL BEHAVES THIS UNEVENLY,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ABOUT AN UNMEASURED ONE?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51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five years, L'Oréal's reported e-commerce data shows that digital growth is not a straight line: share declined for two years before recovering, while overall sales growth slowed even as margin improved.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measurement challenge is different. AI can influence discovery and consideration before a customer reaches a retailer or L'Oréal's own channels — creating a new layer of activity that may be harder to observe.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663440"/>
            <a:ext cx="6858000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47731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2026: L'Oréal announced a partnership with OpenAI covering AI-powered discovery, virtual try-on and advertising initiatives.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486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L'Oréal, 17 June 2026 VivaTech announcement. Publicly announced scope; L'Oréal-specific measurement implementation is not detailed in public sources.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 · THE AI MEASUREMENT CHALLENGE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≠ INCREMENTALITY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54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purchase tagged "AI-referred" is not proof AI caused 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5394960" cy="2926080"/>
          </a:xfrm>
          <a:prstGeom prst="roundRect">
            <a:avLst>
              <a:gd name="adj" fmla="val 1875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80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 → Referral → Retailer Visit → Purchase  ✓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purchase happened, and a tracking signal linked it to an AI referral.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2148840"/>
            <a:ext cx="5669280" cy="2926080"/>
          </a:xfrm>
          <a:prstGeom prst="roundRect">
            <a:avLst>
              <a:gd name="adj" fmla="val 187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INCREMENTALITY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28803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 → Referral → Retailer Visit → Purchase  ?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purchase might have happened even without the AI referral — attribution alone can't tell you.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534924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5349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tracking signal can attribute a conversion; a comparison-group test is needed to estimate incremental lift.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 · THE AI MEASUREMENT CHALLENGE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L'ORÉAL NEED TO MEASURE THIS CREDIBLY?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a credible MDE depends on data and design inputs — here's which ones public data can and can't provide.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47120" cy="356616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60350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Market-level outcome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5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5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the natural outcome variability an effect must be distinguished from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 comparable test/control markets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5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5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the feasible sample size and comparison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outcome level (e.g. market-level sales)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5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5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the scale against which an incremental lift is evaluated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Sufficient pre-test market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5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5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baseline trends and seasonality before the intervention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Decidable in advance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5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the observation window and contributes to detectable effect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L'Oréal-specific MDE can be calculated from public data. The target effect, alpha and statistical power should be pre-specified as part of the experiment design.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696358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69635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 · PROPOSED MEASUREMENT FRAMEWORK</a:t>
            </a:r>
            <a:endParaRPr lang="en-US" sz="1000" dirty="0"/>
          </a:p>
        </p:txBody>
      </p:sp>
      <p:pic>
        <p:nvPicPr>
          <p:cNvPr id="6" name="Image 1" descr="brushes.jp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rcRect l="0" r="0" t="0" b="0"/>
          <a:stretch/>
        </p:blipFill>
        <p:spPr>
          <a:xfrm>
            <a:off x="10378440" y="411480"/>
            <a:ext cx="1353312" cy="1353312"/>
          </a:xfrm>
          <a:prstGeom prst="ellipse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BE MEASURED — AND WHAT STILL REQUIRES DATA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framework — not a description of L'Oréal's current measurement systems.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0352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PROXY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530352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Rate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30352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standardized test prompts producing a L'Oréal brand/product mention — not real consumer exposure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57200" y="4343400"/>
            <a:ext cx="1783080" cy="0"/>
          </a:xfrm>
          <a:prstGeom prst="line">
            <a:avLst/>
          </a:prstGeom>
          <a:noFill/>
          <a:ln w="12700">
            <a:solidFill>
              <a:srgbClr val="16224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350008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423160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2423160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Rate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423160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with a verified AI-origin signal reaching a L'Oréal or partner destination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350008" y="4343400"/>
            <a:ext cx="1783080" cy="0"/>
          </a:xfrm>
          <a:prstGeom prst="line">
            <a:avLst/>
          </a:prstGeom>
          <a:noFill/>
          <a:ln w="12700">
            <a:solidFill>
              <a:srgbClr val="16224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42816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315968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4315968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Referral Rate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315968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AI-originated sessions/referrals identifiable through instrumented links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242816" y="4343400"/>
            <a:ext cx="1783080" cy="0"/>
          </a:xfrm>
          <a:prstGeom prst="line">
            <a:avLst/>
          </a:prstGeom>
          <a:noFill/>
          <a:ln w="12700">
            <a:solidFill>
              <a:srgbClr val="16224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35624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08776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6208776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AI-Referred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6208776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following an identified AI referral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135624" y="4343400"/>
            <a:ext cx="1783080" cy="0"/>
          </a:xfrm>
          <a:prstGeom prst="line">
            <a:avLst/>
          </a:prstGeom>
          <a:noFill/>
          <a:ln w="12700">
            <a:solidFill>
              <a:srgbClr val="16224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28432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101584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INCREMENTALITY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8101584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Lift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8101584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outcome change between exposed/test markets and matched controls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8028432" y="4343400"/>
            <a:ext cx="1783080" cy="0"/>
          </a:xfrm>
          <a:prstGeom prst="line">
            <a:avLst/>
          </a:prstGeom>
          <a:noFill/>
          <a:ln w="12700">
            <a:solidFill>
              <a:srgbClr val="16224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921240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994392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VALUE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9994392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AI-Originated Repeat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9994392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 for customers with a reliably identified AI-originated journey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9921240" y="4343400"/>
            <a:ext cx="1783080" cy="0"/>
          </a:xfrm>
          <a:prstGeom prst="line">
            <a:avLst/>
          </a:prstGeom>
          <a:noFill/>
          <a:ln w="12700">
            <a:solidFill>
              <a:srgbClr val="16224D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57200" y="44805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DEPENDENCY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prompt testing</a:t>
            </a:r>
            <a:endParaRPr lang="en-US" sz="850" dirty="0"/>
          </a:p>
        </p:txBody>
      </p:sp>
      <p:sp>
        <p:nvSpPr>
          <p:cNvPr id="41" name="Text 37"/>
          <p:cNvSpPr txBox="1"/>
          <p:nvPr/>
        </p:nvSpPr>
        <p:spPr>
          <a:xfrm>
            <a:off x="2350008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and/or referral data</a:t>
            </a:r>
            <a:endParaRPr lang="en-US" sz="850" dirty="0"/>
          </a:p>
        </p:txBody>
      </p:sp>
      <p:sp>
        <p:nvSpPr>
          <p:cNvPr id="42" name="Text 38"/>
          <p:cNvSpPr txBox="1"/>
          <p:nvPr/>
        </p:nvSpPr>
        <p:spPr>
          <a:xfrm>
            <a:off x="4242816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instrumentation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6135624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DTC or retailer transaction data</a:t>
            </a:r>
            <a:endParaRPr lang="en-US" sz="850" dirty="0"/>
          </a:p>
        </p:txBody>
      </p:sp>
      <p:sp>
        <p:nvSpPr>
          <p:cNvPr id="44" name="Text 40"/>
          <p:cNvSpPr txBox="1"/>
          <p:nvPr/>
        </p:nvSpPr>
        <p:spPr>
          <a:xfrm>
            <a:off x="8028432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</a:t>
            </a:r>
            <a:endParaRPr lang="en-US" sz="850" dirty="0"/>
          </a:p>
        </p:txBody>
      </p:sp>
      <p:sp>
        <p:nvSpPr>
          <p:cNvPr id="45" name="Text 41"/>
          <p:cNvSpPr txBox="1"/>
          <p:nvPr/>
        </p:nvSpPr>
        <p:spPr>
          <a:xfrm>
            <a:off x="9921240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Origin-tagged CRM data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696358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69635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 · PROPOSED MEASUREMENT FRAMEWORK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WOULD TEST FIRST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feasibility-gated pilot for paid ChatGPT placement.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32120" cy="1783080"/>
          </a:xfrm>
          <a:prstGeom prst="roundRect">
            <a:avLst>
              <a:gd name="adj" fmla="val 2564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8FA0D9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58368" y="1856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40280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CHECK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51460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L'Oréal's specific ChatGPT ad placement — not just the platform's general capability — supports the market-level targeting/assignment and reporting required for the test.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154680"/>
            <a:ext cx="512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required market-level assignment or reporting is unavailable for this partnership specifically: establish the measurement arrangement before running the test.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72200" y="1783080"/>
            <a:ext cx="5532120" cy="1783080"/>
          </a:xfrm>
          <a:prstGeom prst="roundRect">
            <a:avLst>
              <a:gd name="adj" fmla="val 256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3368" y="1856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373368" y="2240280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+ CONTROL MARKETS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373368" y="251460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markets with paid ChatGPT placement active vs. matched control markets without it.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373368" y="3154680"/>
            <a:ext cx="512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count should be determined from the pre-test power calculation and the eligible market pool.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5532120" cy="1783080"/>
          </a:xfrm>
          <a:prstGeom prst="roundRect">
            <a:avLst>
              <a:gd name="adj" fmla="val 256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7307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4114800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SALES LIFT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438912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pre/post sales changes in exposed markets against matched controls. Primary metric: Incremental Sales Lift.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5029200"/>
            <a:ext cx="512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 ≠ no effect. If statistical power is insufficient, redesign the test — do not call it zero impact.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172200" y="3657600"/>
            <a:ext cx="5532120" cy="1783080"/>
          </a:xfrm>
          <a:prstGeom prst="roundRect">
            <a:avLst>
              <a:gd name="adj" fmla="val 256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73368" y="37307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373368" y="4114800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DECISION RULE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373368" y="438912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 the minimum business-relevant lift and decision rule; use the pre-test power calculation to determine whether the design can detect it.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373368" y="5029200"/>
            <a:ext cx="512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required: sufficient pre-test market history · confirmed placement eligibility/assignment · platform/retailer measurement access.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8FA0D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5532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SELF-CORRECTION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" y="57790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initially framed the pilot around a geo-holdout test. I then checked whether public evidence established the targeting and reporting needed to run one. It didn't — so feasibility became Stage 1 rather than an assumption.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103827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103827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1 · REPORTED GROWTH VS. LFL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SALES GROWTH IS NOT THE SAME AS LFL GROWTH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questions, calculated two different ways, from the same underlying business.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194560"/>
          <a:ext cx="7589520" cy="2377440"/>
        </p:xfrm>
        <a:graphic>
          <a:graphicData uri="http://schemas.openxmlformats.org/drawingml/2006/table">
            <a:tbl>
              <a:tblPr/>
              <a:tblGrid>
                <a:gridCol w="1920240"/>
                <a:gridCol w="2834640"/>
                <a:gridCol w="28346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Sales YoY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LFL Sales Growth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371600" y="4892040"/>
            <a:ext cx="9418320" cy="777240"/>
          </a:xfrm>
          <a:prstGeom prst="roundRect">
            <a:avLst>
              <a:gd name="adj" fmla="val 58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600200" y="50292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growth includes currency/scope effects; LFL growth is L'Oréal's like-for-like measure. They answer different questions.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53949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L'Oréal Annual Results / reported net sales, 2021–2025.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3313786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331378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2 · CAGR &amp; INDEXING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AND INDEXING: TWO LENSES, ONE PATH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5394960" cy="960120"/>
          </a:xfrm>
          <a:prstGeom prst="roundRect">
            <a:avLst>
              <a:gd name="adj" fmla="val 476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CAGR, 2021–2025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385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8.08%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035040" y="1600200"/>
            <a:ext cx="5669280" cy="960120"/>
          </a:xfrm>
          <a:prstGeom prst="roundRect">
            <a:avLst>
              <a:gd name="adj" fmla="val 476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CAGR, 2021–2025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19385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9.36%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CAGRs cover the same 2021–2025 period.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3200400"/>
          <a:ext cx="86868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Sales Index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 Index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9AA5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1737360" y="5989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L'Oréal Annual Results press releases, 2022–2025 (reported net sales, €m); 2025 Universal Registration Document (e-commerce sales).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103827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103827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3 · EXTERNAL CONTEXT — FRED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U.S. RETAIL BENCHMARK — CONTEXTUAL ONLY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is global beauty; FRED covers U.S. health &amp; personal-care retail. Different geography, different category.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194560"/>
          <a:ext cx="9052560" cy="237744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  <a:gridCol w="32004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Health &amp; Personal Care Retail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L'Oréal LFL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097280" y="4892040"/>
            <a:ext cx="9052560" cy="777240"/>
          </a:xfrm>
          <a:prstGeom prst="roundRect">
            <a:avLst>
              <a:gd name="adj" fmla="val 58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325880" y="50292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match in 3 of 4 years; contextual only. L'Oréal is global beauty, while FRED covers U.S. health &amp; personal-care retail.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5394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FRED series MRTSSM446USS (U.S. Census Bureau via Federal Reserve Economic Data) — monthly, seasonally adjusted, aggregated to annual.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301338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30133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4 · EUROPEAN DIGITAL ADOPTION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EUROSTAT: CONSUMER VS. ENTERPRISE ADOPTION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digital adoption, 2021 vs. 2025 — contextual background, not a L'Oréal benchmark.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ONLINE-PURCHASE ADOPTION (%)
</a:t>
            </a:r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individuals — last online purchase in the last 3 months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486400" cy="233172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Geography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pp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EU-27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26364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B2C WEB-SALES ADOPTION (%)
</a:t>
            </a:r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enterprises (10+ employees) with web sales to consumers</a:t>
            </a:r>
            <a:endParaRPr lang="en-US" sz="1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86000"/>
          <a:ext cx="5486400" cy="233172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Geography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pp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EU-27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57200" y="4892040"/>
            <a:ext cx="11247120" cy="1051560"/>
          </a:xfrm>
          <a:prstGeom prst="roundRect">
            <a:avLst>
              <a:gd name="adj" fmla="val 4348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8FA0D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5800" y="49834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SPAIN, 2024 → 2025: SAME MARKET, OPPOSITE MOVEMENT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2852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online-purchase adoption: +2.95 pp</a:t>
            </a:r>
            <a:pPr indent="0" marL="0">
              <a:buNone/>
            </a:pPr>
            <a:r>
              <a:rPr lang="en-US" sz="115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150" b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B2C web-sales adoption: −1.24 pp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5778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market, opposite movement — a reminder that consumer demand and business-side digital adoption are not interchangeable measures.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Eurostat isoc_ec_ib20 (consumer online purchases); isoc_ec_esels (enterprise B2C web sales).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3511296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351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5 · AI EVIDENCE AUDIT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229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ANNOUNCED, DOCUMENTED, AND STILL UNKNOWN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AI-related claim used in this project, classified against public evidence.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8562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are publicly documented; the precise access, eligibility and market-level measurement available to L'Oréal's specific implementation are not publicly established.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468880"/>
          <a:ext cx="9784080" cy="3429000"/>
        </p:xfrm>
        <a:graphic>
          <a:graphicData uri="http://schemas.openxmlformats.org/drawingml/2006/table">
            <a:tbl>
              <a:tblPr/>
              <a:tblGrid>
                <a:gridCol w="7040880"/>
                <a:gridCol w="2743200"/>
              </a:tblGrid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A0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4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 × OpenAI collaboration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7A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discovery initiatives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7A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Maybelline Virtual Try-On in ChatGPT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7A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advertising initiatives involving L'Oréal brands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7A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Ads geographic targeting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FE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E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Ads impression/reporting 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FE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E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L'Oréal-specific eligible market assignment for its placement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5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4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L'Oréal-specific access to the required campaign-level reporting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5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4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consumer exposure volume from organic AI 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5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4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linkage from organic AI 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5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4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188720" y="59893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L'Oréal × OpenAI announcement, 17 June 2026; OpenAI ChatGPT Ads documentation, current as of September 2026.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22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3906317" cy="320040"/>
          </a:xfrm>
          <a:prstGeom prst="rect">
            <a:avLst/>
          </a:prstGeom>
          <a:solidFill>
            <a:srgbClr val="060B22">
              <a:alpha val="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3906317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6 · SOURCES &amp; METHODOLOGY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METHODOLOGY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3383280"/>
        </p:xfrm>
        <a:graphic>
          <a:graphicData uri="http://schemas.openxmlformats.org/drawingml/2006/table">
            <a:tbl>
              <a:tblPr/>
              <a:tblGrid>
                <a:gridCol w="10515600"/>
              </a:tblGrid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 Annual Reports / Universal Registration Documents, 2021–2025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 2025 Annual Results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Eurostat isoc_ec_ib20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Eurostat isoc_ec_esels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Census Bureau via FRED — MRTSSM446USS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 × OpenAI — 17 June 2026 VivaTech announcement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— Create Campaigns for ChatGPT 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— Ads in ChatGPT / Measure Results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— Conversion Measurement documentation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B2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16636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528523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only. External datasets are contextual rather than like-for-like benchmarks. Proposed AI measurement constructs are analytical recommendations, not claims about current L'Oréal systems.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2026-09-22T18:55:50Z</dcterms:created>
  <dcterms:modified xsi:type="dcterms:W3CDTF">2026-09-22T18:55:50Z</dcterms:modified>
</cp:coreProperties>
</file>