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-1-1.jpg" ContentType="image/jpg"/>
  <Override PartName="/ppt/media/image-1-2.jpg" ContentType="image/jpg"/>
  <Override PartName="/ppt/media/image-10-1.jpg" ContentType="image/jpg"/>
  <Override PartName="/ppt/media/image-11-1.jpg" ContentType="image/jpg"/>
  <Override PartName="/ppt/media/image-12-1.jpg" ContentType="image/jpg"/>
  <Override PartName="/ppt/media/image-13-1.jpg" ContentType="image/jpg"/>
  <Override PartName="/ppt/media/image-14-1.jpg" ContentType="image/jpg"/>
  <Override PartName="/ppt/media/image-2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media/image-7-1.jpg" ContentType="image/jpg"/>
  <Override PartName="/ppt/media/image-7-2.jpg" ContentType="image/jpg"/>
  <Override PartName="/ppt/media/image-8-1.jpg" ContentType="image/jpg"/>
  <Override PartName="/ppt/media/image-9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E-commerce Share of Sales (%)</c:v>
                </c:pt>
              </c:strCache>
            </c:strRef>
          </c:tx>
          <c:spPr>
            <a:solidFill>
              <a:srgbClr val="FFFFFF"/>
            </a:solidFill>
            <a:ln w="3810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28.9</c:v>
                </c:pt>
                <c:pt idx="1">
                  <c:v>28.0</c:v>
                </c:pt>
                <c:pt idx="2">
                  <c:v>27.0</c:v>
                </c:pt>
                <c:pt idx="3">
                  <c:v>28.2</c:v>
                </c:pt>
                <c:pt idx="4">
                  <c:v>30.2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C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24"/>
        </c:scaling>
        <c:delete val="0"/>
        <c:axPos val="l"/>
        <c:majorGridlines>
          <c:spPr>
            <a:ln w="12700" cap="flat">
              <a:solidFill>
                <a:srgbClr val="162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C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060B22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60B22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LFL Sales Growth</c:v>
                </c:pt>
              </c:strCache>
            </c:strRef>
          </c:tx>
          <c:spPr>
            <a:solidFill>
              <a:srgbClr val="FFFFFF"/>
            </a:solidFill>
            <a:ln w="317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16.1</c:v>
                </c:pt>
                <c:pt idx="1">
                  <c:v>10.9</c:v>
                </c:pt>
                <c:pt idx="2">
                  <c:v>11</c:v>
                </c:pt>
                <c:pt idx="3">
                  <c:v>5.1</c:v>
                </c:pt>
                <c:pt idx="4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5C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12700" cap="flat">
              <a:solidFill>
                <a:srgbClr val="162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5C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6"/>
      </c:valAx>
      <c:spPr>
        <a:solidFill>
          <a:srgbClr val="060B22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60B22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</c:v>
                </c:pt>
              </c:strCache>
            </c:strRef>
          </c:tx>
          <c:spPr>
            <a:solidFill>
              <a:srgbClr val="FFFFFF"/>
            </a:solidFill>
            <a:ln w="317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19.1</c:v>
                </c:pt>
                <c:pt idx="1">
                  <c:v>19.5</c:v>
                </c:pt>
                <c:pt idx="2">
                  <c:v>19.8</c:v>
                </c:pt>
                <c:pt idx="3">
                  <c:v>20</c:v>
                </c:pt>
                <c:pt idx="4">
                  <c:v>20.2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5C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"/>
          <c:min val="18"/>
        </c:scaling>
        <c:delete val="0"/>
        <c:axPos val="l"/>
        <c:majorGridlines>
          <c:spPr>
            <a:ln w="12700" cap="flat">
              <a:solidFill>
                <a:srgbClr val="162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5C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060B22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60B22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pic>
        <p:nvPicPr>
          <p:cNvPr id="4" name="Image 1" descr="bottl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49440" y="0"/>
            <a:ext cx="5239512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400800" y="0"/>
            <a:ext cx="822960" cy="6858000"/>
          </a:xfrm>
          <a:prstGeom prst="rect">
            <a:avLst/>
          </a:prstGeom>
          <a:solidFill>
            <a:srgbClr val="060B22">
              <a:alpha val="70000"/>
            </a:srgbClr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548640" y="822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46888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AI DISCOVERY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MEASUREMENT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566928" y="4160520"/>
            <a:ext cx="2011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34340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spc="50" kern="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L'Oréal could extend its existing measurement capabilities into conversational AI discovery — without needing to own the AI touchpoint.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400093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400093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1 · DIGITAL CHANNEL PERFORMANCE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SHARE OF SALES DIDN'T ALWAYS RISE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share fell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 pp from 2021–2023</a:t>
            </a:r>
            <a:pPr indent="0" marL="0"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recovered to 28.2% in 2024 and reached 30.2% in 2025.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10312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52360" y="22860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 did not mean e-commerce sales were falling — total L'Oréal sales were growing faster in 2022 and 2023.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452360" y="3429000"/>
            <a:ext cx="4206240" cy="777240"/>
          </a:xfrm>
          <a:prstGeom prst="roundRect">
            <a:avLst>
              <a:gd name="adj" fmla="val 588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0" y="354787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€13.3bn in e-commerce sales — 30.2% of Group sales.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452360" y="4343400"/>
            <a:ext cx="4206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 Annual Reports, 2021–2024; 2025 Universal Registration Document.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figures are L'Oréal-reported; the underlying KPI uses non-audited self-reported data. E-commerce growth is reported on a like-for-like basis. 2022 and 2023 shares were disclosed as whole percentages.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400093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400093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1 · DIGITAL CHANNEL PERFORMANCE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SLOWED WHILE MARGIN KEPT RISING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LFL sales growth fell from 16.1% in 2021 to 4.0% in 2025</a:t>
            </a:r>
            <a:pPr indent="0" marL="0"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while operating margin increased from 19.1% to 20.2%.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LFL SALES GROWTH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286000"/>
          <a:ext cx="61264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4251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MARGIN (%)</a:t>
            </a:r>
            <a:endParaRPr lang="en-US" sz="100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457200" y="4480560"/>
          <a:ext cx="612648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858000" y="2377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data therefore shows slowing top-line growth alongside continued margin expansion.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6858000" y="3291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 Annual Reports, 2021–2025.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57200" y="6144768"/>
            <a:ext cx="1124712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metrics moved in opposite directions — this chart does not establish a causal relationship between them.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2 · THE AI MEASUREMENT CHALLENGE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144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MEASURED CHANNEL BEHAVES THIS UNEVENLY,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ABOUT AN UNMEASURED ONE?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517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five years, L'Oréal's reported e-commerce data shows that digital growth is not a straight line: share declined for two years before recovering, while overall sales growth slowed even as margin improved.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204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measurement challenge is different. AI can influence discovery and consideration before a customer reaches a retailer or L'Oréal's own channels — creating a new layer of activity that may be harder to observe.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663440"/>
            <a:ext cx="6858000" cy="1417320"/>
          </a:xfrm>
          <a:prstGeom prst="roundRect">
            <a:avLst>
              <a:gd name="adj" fmla="val 38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773168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2026: L'Oréal announced a partnership with OpenAI covering AI-powered discovery, virtual try-on and advertising initiatives.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4864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L'Oréal, 17 June 2026 VivaTech announcement. Publicly announced scope; L'Oréal-specific measurement implementation is not detailed in public sources.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2 · THE AI MEASUREMENT CHALLENGE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 ≠ INCREMENTALITY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54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purchase tagged "AI-referred" is not proof AI caused it.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148840"/>
            <a:ext cx="5394960" cy="2926080"/>
          </a:xfrm>
          <a:prstGeom prst="roundRect">
            <a:avLst>
              <a:gd name="adj" fmla="val 1875"/>
            </a:avLst>
          </a:prstGeom>
          <a:solidFill>
            <a:srgbClr val="FFFFFF">
              <a:alpha val="10000"/>
            </a:srgbClr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880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Discovery → Referral → Retailer Visit → Purchase  ✓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566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purchase happened, and a tracking signal linked it to an AI referral.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35040" y="2148840"/>
            <a:ext cx="5669280" cy="2926080"/>
          </a:xfrm>
          <a:prstGeom prst="roundRect">
            <a:avLst>
              <a:gd name="adj" fmla="val 187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09360" y="2377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INCREMENTALITY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28803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Discovery → Referral → Retailer Visit → Purchase  ?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3566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purchase might have happened even without the AI referral — attribution alone can't tell you.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53492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53492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tracking signal can attribute a conversion; a comparison-group test is needed to estimate incremental lift.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49884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2 · THE AI MEASUREMENT CHALLENGE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L'ORÉAL NEED TO MEASURE THIS CREDIBLY?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Estimating a credible MDE depends on data and design inputs — here's which ones public data can and can't provide.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47120" cy="3566160"/>
        </p:xfrm>
        <a:graphic>
          <a:graphicData uri="http://schemas.openxmlformats.org/drawingml/2006/table">
            <a:tbl>
              <a:tblPr/>
              <a:tblGrid>
                <a:gridCol w="3108960"/>
                <a:gridCol w="2103120"/>
                <a:gridCol w="60350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 Needed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Market-level outcome variance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publicly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Estimates the natural outcome variability an effect must be distinguished 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comparable test/control markets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publicly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Determines the feasible sample size and comparison 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outcome level (e.g. market-level sales)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publicly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the scale against which an incremental lift is evaluated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Sufficient pre-test market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publicly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Captures baseline trends and seasonality before the intervention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Decidable in advance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Determines the observation window and contributes to detectable effect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L'Oréal-specific MDE can be calculated from public data. The target effect, alpha and statistical power should be pre-specified as part of the experiment design.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696358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69635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3 · PROPOSED MEASUREMENT FRAMEWORK</a:t>
            </a:r>
            <a:endParaRPr lang="en-US" sz="1000" dirty="0"/>
          </a:p>
        </p:txBody>
      </p:sp>
      <p:pic>
        <p:nvPicPr>
          <p:cNvPr id="6" name="Image 1" descr="brushes.jp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rcRect l="0" r="0" t="0" b="0"/>
          <a:stretch/>
        </p:blipFill>
        <p:spPr>
          <a:xfrm>
            <a:off x="10378440" y="411480"/>
            <a:ext cx="1353312" cy="1353312"/>
          </a:xfrm>
          <a:prstGeom prst="ellipse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BE MEASURED — AND WHAT STILL REQUIRES DATA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framework — not a description of L'Oréal's current measurement systems.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57200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0352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PROXY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30352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Answer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Rate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30352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standardized test prompts producing a L'Oréal brand/product mention — not real consumer exposure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57200" y="4343400"/>
            <a:ext cx="1783080" cy="0"/>
          </a:xfrm>
          <a:prstGeom prst="line">
            <a:avLst/>
          </a:prstGeom>
          <a:noFill/>
          <a:ln w="12700">
            <a:solidFill>
              <a:srgbClr val="16224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350008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423160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2423160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Rate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with a verified AI-origin signal reaching a L'Oréal or partner destination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2350008" y="4343400"/>
            <a:ext cx="1783080" cy="0"/>
          </a:xfrm>
          <a:prstGeom prst="line">
            <a:avLst/>
          </a:prstGeom>
          <a:noFill/>
          <a:ln w="12700">
            <a:solidFill>
              <a:srgbClr val="16224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242816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315968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4315968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Referral Rate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315968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AI-originated sessions/referrals identifiable through instrumented links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4242816" y="4343400"/>
            <a:ext cx="1783080" cy="0"/>
          </a:xfrm>
          <a:prstGeom prst="line">
            <a:avLst/>
          </a:prstGeom>
          <a:noFill/>
          <a:ln w="12700">
            <a:solidFill>
              <a:srgbClr val="16224D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35624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208776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208776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AI-Referred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6208776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 following an identified AI referral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135624" y="4343400"/>
            <a:ext cx="1783080" cy="0"/>
          </a:xfrm>
          <a:prstGeom prst="line">
            <a:avLst/>
          </a:prstGeom>
          <a:noFill/>
          <a:ln w="12700">
            <a:solidFill>
              <a:srgbClr val="16224D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028432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101584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INCREMENTALITY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101584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Lift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8101584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in outcome change between exposed/test markets and matched controls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8028432" y="4343400"/>
            <a:ext cx="1783080" cy="0"/>
          </a:xfrm>
          <a:prstGeom prst="line">
            <a:avLst/>
          </a:prstGeom>
          <a:noFill/>
          <a:ln w="12700">
            <a:solidFill>
              <a:srgbClr val="16224D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921240" y="2103120"/>
            <a:ext cx="1783080" cy="2331720"/>
          </a:xfrm>
          <a:prstGeom prst="roundRect">
            <a:avLst>
              <a:gd name="adj" fmla="val 256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9994392" y="2221992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VALUE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994392" y="256032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AI-Originated Repeat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Rate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9994392" y="3200400"/>
            <a:ext cx="1636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purchase rate for customers with a reliably identified AI-originated journey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9921240" y="4343400"/>
            <a:ext cx="1783080" cy="0"/>
          </a:xfrm>
          <a:prstGeom prst="line">
            <a:avLst/>
          </a:prstGeom>
          <a:noFill/>
          <a:ln w="12700">
            <a:solidFill>
              <a:srgbClr val="16224D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57200" y="448056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DEPENDENCY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prompt testing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2350008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and/or referral data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4242816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instrumentation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6135624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DTC or retailer transaction data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028432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experiment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9921240" y="473659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Origin-tagged CRM data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696358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69635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3 · PROPOSED MEASUREMENT FRAMEWORK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777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TEST FIRST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feasibility-gated pilot for paid ChatGPT placement.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5532120" cy="1783080"/>
          </a:xfrm>
          <a:prstGeom prst="roundRect">
            <a:avLst>
              <a:gd name="adj" fmla="val 2564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8FA0D9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658368" y="18562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4028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CHECK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1460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whether L'Oréal's specific ChatGPT ad placement — not just the platform's general capability — supports the market-level targeting/assignment and reporting required for the test.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154680"/>
            <a:ext cx="5129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required market-level assignment or reporting is unavailable for this partnership specifically: establish the measurement arrangement before running the test.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172200" y="1783080"/>
            <a:ext cx="5532120" cy="1783080"/>
          </a:xfrm>
          <a:prstGeom prst="roundRect">
            <a:avLst>
              <a:gd name="adj" fmla="val 256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73368" y="18562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73368" y="224028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+ CONTROL MARKETS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373368" y="251460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markets with paid ChatGPT placement active vs. matched control markets without it.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73368" y="3154680"/>
            <a:ext cx="5129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count should be determined from the pre-test power calculation and the eligible market pool.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532120" cy="1783080"/>
          </a:xfrm>
          <a:prstGeom prst="roundRect">
            <a:avLst>
              <a:gd name="adj" fmla="val 256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" y="37307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411480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SALES LIFT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438912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pre/post sales changes in exposed markets against matched controls. Primary metric: Incremental Sales Lift.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58368" y="5029200"/>
            <a:ext cx="5129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Inconclusive ≠ no effect. If statistical power is insufficient, redesign the test — do not call it zero impact.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172200" y="3657600"/>
            <a:ext cx="5532120" cy="1783080"/>
          </a:xfrm>
          <a:prstGeom prst="roundRect">
            <a:avLst>
              <a:gd name="adj" fmla="val 256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73368" y="37307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373368" y="411480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DECISION RULE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373368" y="438912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 the minimum business-relevant lift and decision rule; use the pre-test power calculation to determine whether the design can detect it.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373368" y="5029200"/>
            <a:ext cx="5129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required: sufficient pre-test market history · confirmed placement eligibility/assignment · platform/retailer measurement access.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57200" y="5532120"/>
            <a:ext cx="11247120" cy="777240"/>
          </a:xfrm>
          <a:prstGeom prst="roundRect">
            <a:avLst>
              <a:gd name="adj" fmla="val 5882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8FA0D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55321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SELF-CORRECTION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initially framed the pilot around a geo-holdout test. I then checked whether public evidence established the targeting and reporting needed to run one. It didn't — so feasibility became Stage 1 rather than an assumption.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103827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103827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· REPORTED GROWTH VS. LFL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SALES GROWTH IS NOT THE SAME AS LFL GROWTH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questions, calculated two different ways, from the same underlying business.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2194560"/>
          <a:ext cx="7589520" cy="237744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Sales YoY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LFL Sales Growth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371600" y="4892040"/>
            <a:ext cx="9418320" cy="777240"/>
          </a:xfrm>
          <a:prstGeom prst="roundRect">
            <a:avLst>
              <a:gd name="adj" fmla="val 5882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600200" y="50292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growth includes currency/scope effects; LFL growth is L'Oréal's like-for-like measure. They answer different questions.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600200" y="539496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 Annual Results / reported net sales, 2021–2025.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3313786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331378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· CAGR &amp; INDEXING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AND INDEXING: TWO LENSES, ONE PATH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5394960" cy="960120"/>
          </a:xfrm>
          <a:prstGeom prst="roundRect">
            <a:avLst>
              <a:gd name="adj" fmla="val 476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SALES CAGR, 2021–2025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938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8.08%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6035040" y="1600200"/>
            <a:ext cx="5669280" cy="960120"/>
          </a:xfrm>
          <a:prstGeom prst="roundRect">
            <a:avLst>
              <a:gd name="adj" fmla="val 4762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3640" y="1691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CAGR, 2021–2025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193852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9.36%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6517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CAGRs cover the same 2021–2025 period.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7360" y="3200400"/>
          <a:ext cx="86868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Sales Index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E-commerce Index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120.43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132.26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1737360" y="59893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L'Oréal Annual Results press releases, 2022–2025 (reported net sales, €m); 2025 Universal Registration Document (e-commerce sales).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103827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103827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3 · EXTERNAL CONTEXT — FRED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U.S. RETAIL BENCHMARK — CONTEXTUAL ONLY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is global beauty; FRED covers U.S. health &amp; personal-care retail. Different geography, different category.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194560"/>
          <a:ext cx="9052560" cy="237744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  <a:gridCol w="32004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Health &amp; Personal Care Retail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L'Oréal LFL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+4.28%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097280" y="4892040"/>
            <a:ext cx="9052560" cy="777240"/>
          </a:xfrm>
          <a:prstGeom prst="roundRect">
            <a:avLst>
              <a:gd name="adj" fmla="val 5882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325880" y="50292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match in 3 of 4 years; contextual only. L'Oréal is global beauty, while FRED covers U.S. health &amp; personal-care retail.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39496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FRED series MRTSSM446USS (U.S. Census Bureau via Federal Reserve Economic Data) — monthly, seasonally adjusted, aggregated to annual.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4301338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430133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4 · EUROPEAN DIGITAL ADOPTION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EUROSTAT: CONSUMER VS. ENTERPRISE ADOPTION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digital adoption, 2021 vs. 2025 — contextual background, not a L'Oréal benchmark.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ONLINE-PURCHASE ADOPTION (%)
</a:t>
            </a:r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individuals — last online purchase in the last 3 months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5486400" cy="233172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Geography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pp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26364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B2C WEB-SALES ADOPTION (%)
</a:t>
            </a:r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enterprises (10+ employees) with web sales to consumers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286000"/>
          <a:ext cx="5486400" cy="233172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Geography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pp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892040"/>
            <a:ext cx="11247120" cy="1051560"/>
          </a:xfrm>
          <a:prstGeom prst="roundRect">
            <a:avLst>
              <a:gd name="adj" fmla="val 434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8FA0D9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49834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SPAIN, 2024 → 2025: SAME MARKET, OPPOSITE MOVEMENT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52852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online-purchase adoption: +2.95 pp</a:t>
            </a:r>
            <a:pPr indent="0" marL="0">
              <a:buNone/>
            </a:pPr>
            <a:r>
              <a:rPr lang="en-US" sz="115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</a:t>
            </a:r>
            <a:pPr indent="0" marL="0">
              <a:buNone/>
            </a:pPr>
            <a:r>
              <a:rPr lang="en-US" sz="1150" b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B2C web-sales adoption: −1.24 pp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55778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market, opposite movement — a reminder that consumer demand and business-side digital adoption are not interchangeable measures.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035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Eurostat isoc_ec_ib20 (consumer online purchases); isoc_ec_esels (enterprise B2C web sales).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3511296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35112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5 · AI EVIDENCE AUDIT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229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ANNOUNCED, DOCUMENTED, AND STILL UNKNOWN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17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AI-related claim used in this project, classified against public evidence.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185623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are publicly documented; the precise access, eligibility and market-level measurement available to L'Oréal's specific implementation are not publicly established.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2468880"/>
          <a:ext cx="9784080" cy="3429000"/>
        </p:xfrm>
        <a:graphic>
          <a:graphicData uri="http://schemas.openxmlformats.org/drawingml/2006/table">
            <a:tbl>
              <a:tblPr/>
              <a:tblGrid>
                <a:gridCol w="7040880"/>
                <a:gridCol w="2743200"/>
              </a:tblGrid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FA0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44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 × OpenAI collaboration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F7A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AI-powered discovery initiatives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F7A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Maybelline Virtual Try-On in ChatGPT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F7A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advertising initiatives involving L'Oréal brands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F7A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Ads geographic targeting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FE6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5E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Ads impression/reporting metrics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FE6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5E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L'Oréal-specific eligible market assignment for its 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AA5C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44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L'Oréal-specific access to the required campaign-level reporting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AA5C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44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consumer exposure volume from organic AI discovery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AA5C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44"/>
                    </a:solidFill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linkage from organic AI discovery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AA5C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44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1188720" y="59893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8FA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L'Oréal × OpenAI announcement, 17 June 2026; OpenAI ChatGPT Ads documentation, current as of September 2026.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B22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411480"/>
            <a:ext cx="3906317" cy="320040"/>
          </a:xfrm>
          <a:prstGeom prst="rect">
            <a:avLst/>
          </a:prstGeom>
          <a:solidFill>
            <a:srgbClr val="060B22">
              <a:alpha val="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1480"/>
            <a:ext cx="3906317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6 · SOURCES &amp; METHODOLOGY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METHODOLOGY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00200"/>
          <a:ext cx="10515600" cy="3383280"/>
        </p:xfrm>
        <a:graphic>
          <a:graphicData uri="http://schemas.openxmlformats.org/drawingml/2006/table">
            <a:tbl>
              <a:tblPr/>
              <a:tblGrid>
                <a:gridCol w="10515600"/>
              </a:tblGrid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 Annual Reports / Universal Registration Documents, 2021–2025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 2025 Annual Results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Eurostat isoc_ec_ib20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Eurostat isoc_ec_esels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U.S. Census Bureau via FRED — MRTSSM446USS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L'Oréal × OpenAI — 17 June 2026 VivaTech announcement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— Create Campaigns for ChatGPT Ads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— Ads in ChatGPT / Measure Results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— Conversion Measurement documentation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B2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5166360"/>
            <a:ext cx="11247120" cy="1051560"/>
          </a:xfrm>
          <a:prstGeom prst="roundRect">
            <a:avLst>
              <a:gd name="adj" fmla="val 5217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A4A8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5285232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AA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 only. External datasets are contextual rather than like-for-like benchmarks. Proposed AI measurement constructs are analytical recommendations, not claims about current L'Oréal systems.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L'ORÉAL  ·  BUSINESS ANALYTICS &amp; AI MEASUREMENT  ·  2026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FA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2026-09-22T18:55:50Z</dcterms:created>
  <dcterms:modified xsi:type="dcterms:W3CDTF">2026-09-22T18:55:50Z</dcterms:modified>
</cp:coreProperties>
</file>